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Path Finding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Real Fab OHT Network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4343400"/>
            <a:ext cx="2011680" cy="0"/>
          </a:xfrm>
          <a:prstGeom prst="line">
            <a:avLst/>
          </a:prstGeom>
          <a:noFill/>
          <a:ln w="1905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김도현  ·  202214223  ·  전기전자공학과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Hundreds of OHTs share one rail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collision stalls the line — and a stalled line stalls production.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FAB_O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040380"/>
            <a:ext cx="868680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PROBLEM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Discrete-time motion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  ·  one step = move V·Δt or wait  ·  min separation V·Δt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fig_mo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8468" y="2743200"/>
            <a:ext cx="712458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PROBLEM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→ unit edges (virtual nodes)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each edge into unit steps  →  collision = same (node, time).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fig_virtualn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69" y="2651760"/>
            <a:ext cx="8201582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PROBLEM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conflict: why time is part of the problem</a:t>
            </a:r>
            <a:endParaRPr lang="en-US" sz="3200" dirty="0"/>
          </a:p>
        </p:txBody>
      </p:sp>
      <p:pic>
        <p:nvPicPr>
          <p:cNvPr id="4" name="Image 0" descr="/sessions/youthful-relaxed-maxwell/mnt/OHT_MAPF/results/assets/fig_coll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4735" y="2011680"/>
            <a:ext cx="7472051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DATA ACQUISITION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fab network, not a toy grid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SMAT 2022 OHT network — Choi et al., PLOS ONE 2024  ·  2,858 nodes / 3,424 edges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528" y="2468880"/>
            <a:ext cx="3310624" cy="4023360"/>
          </a:xfrm>
          <a:prstGeom prst="rect">
            <a:avLst/>
          </a:prstGeom>
        </p:spPr>
      </p:pic>
      <p:pic>
        <p:nvPicPr>
          <p:cNvPr id="6" name="Image 1" descr="/sessions/youthful-relaxed-maxwell/mnt/OHT_MAPF/results/asset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842710"/>
            <a:ext cx="5394960" cy="3367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DATA ACQUISITION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Directed </a:t>
            </a:r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</a:t>
            </a:r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graph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quantize to integer steps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DATA ACQUISITION  ·  PREPROCESSING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— quantize (convert_weights)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→ integer steps: round(d / V), clamp ≥ 1.  Coding it is what lets us measure &amp; tune the error.</a:t>
            </a:r>
            <a:endParaRPr lang="en-US" sz="1500" dirty="0"/>
          </a:p>
        </p:txBody>
      </p:sp>
      <p:pic>
        <p:nvPicPr>
          <p:cNvPr id="5" name="Image 0" descr="/sessions/youthful-relaxed-maxwell/mnt/OHT_MAPF/results/assets/python_stage1_conv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6047" y="2468880"/>
            <a:ext cx="5189426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DATA ACQUISITION  ·  PREPROCESSING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— expand (expand_unweighted)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weight-w edge → a w−1 virtual-node chain of unit edges.</a:t>
            </a:r>
            <a:endParaRPr lang="en-US" sz="1500" dirty="0"/>
          </a:p>
        </p:txBody>
      </p:sp>
      <p:pic>
        <p:nvPicPr>
          <p:cNvPr id="5" name="Image 0" descr="/sessions/youthful-relaxed-maxwell/mnt/OHT_MAPF/results/assets/python_stage2_exp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5904" y="2377440"/>
            <a:ext cx="440971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DATA ACQUISITION  ·  TUNING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Quantization: smaller graph vs. more error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40280"/>
          <a:ext cx="10698480" cy="265176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920240"/>
                <a:gridCol w="1920240"/>
                <a:gridCol w="192024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avg err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max err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avg err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 nodes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 (chosen)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21,178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error is the real metric — edges over/under-round, but a path sums many edges so errors cancel.  Chosen V=500: max w = H = 28.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Prioritized Planning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agents one at a time, in priority order.  Each committed path becomes occupancy the next agent must avoid.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fig_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9045" y="2697480"/>
            <a:ext cx="700343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roles, receding horizon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runs time (plan H, commit C, replan)  ·  PP orders agents  ·  PathFinder routes one agent.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fig_ro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946" y="2606040"/>
            <a:ext cx="7829628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BIG PICTURE  ·  THE PATHFINDER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Pathfinding: BFS over a Time-Expanded Graph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graph per step (TEG)  ·  avoid occupancy via isFree  ·  space = V × (H+1)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fig_t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9447" y="2331720"/>
            <a:ext cx="610262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BIG PICTURE  ·  WHAT IT NEEDS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picture needs — and why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2468880"/>
          <a:ext cx="9235440" cy="2651760"/>
        </p:xfrm>
        <a:graphic>
          <a:graphicData uri="http://schemas.openxmlformats.org/drawingml/2006/table">
            <a:tbl>
              <a:tblPr/>
              <a:tblGrid>
                <a:gridCol w="3108960"/>
                <a:gridCol w="6126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the frontier level by 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TEG &amp; layout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 the graph (copied per time step)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every path's occupancy, queried constantly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pull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takes the next agent by 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is needed — here.  The next section: what data structure realizes each, and why that one.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component → a data structure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2468880"/>
          <a:ext cx="9235440" cy="2651760"/>
        </p:xfrm>
        <a:graphic>
          <a:graphicData uri="http://schemas.openxmlformats.org/drawingml/2006/table">
            <a:tbl>
              <a:tblPr/>
              <a:tblGrid>
                <a:gridCol w="3108960"/>
                <a:gridCol w="6126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frontier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 (FIFO)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TEG &amp; layout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 (adjacency list, on dynamic_array)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dynamic_array (per node) + AVL tree (intervals)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pull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three — graph · AVL · min-heap.  (queue · linked_list · dynamic_array: one breath in the next map.)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from class data structures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tiers: building blocks → structures.  Every compare delegates to Data::operator&lt;.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fig_depend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096" y="2377440"/>
            <a:ext cx="588532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  ·  THE DATA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structure holds Data*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~Data → polymorphic delete (owner deletes, child cleans up).  virtual operator&lt; → comparison delegated.</a:t>
            </a:r>
            <a:endParaRPr lang="en-US" sz="1500" dirty="0"/>
          </a:p>
        </p:txBody>
      </p:sp>
      <p:pic>
        <p:nvPicPr>
          <p:cNvPr id="5" name="Image 0" descr="/sessions/youthful-relaxed-maxwell/mnt/OHT_MAPF/results/assets/data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040" y="2377440"/>
            <a:ext cx="58714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  ·  OPERATOR&lt; OVERLOADING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children override operator&lt;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(by start) makes a generic AVL an interval tree · Agent (by priority) makes a generic heap a priority queue.</a:t>
            </a:r>
            <a:endParaRPr lang="en-US" sz="1500" dirty="0"/>
          </a:p>
        </p:txBody>
      </p:sp>
      <p:pic>
        <p:nvPicPr>
          <p:cNvPr id="5" name="Image 0" descr="/sessions/youthful-relaxed-maxwell/mnt/OHT_MAPF/results/assets/inter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31587"/>
            <a:ext cx="5212080" cy="3715066"/>
          </a:xfrm>
          <a:prstGeom prst="rect">
            <a:avLst/>
          </a:prstGeom>
        </p:spPr>
      </p:pic>
      <p:pic>
        <p:nvPicPr>
          <p:cNvPr id="6" name="Image 1" descr="/sessions/youthful-relaxed-maxwell/mnt/OHT_MAPF/results/assets/agent_operator_overloa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557588"/>
            <a:ext cx="5120640" cy="10229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: public Data — operator&lt; by priority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  ·  GRAPH 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— adjacency 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TEG as adjacency lists — sparse, O(V+E), fast neighbor scan.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fig_adj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9045" y="2697480"/>
            <a:ext cx="700343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  ·  GRAPH ★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— adjacency on dynamic_array</a:t>
            </a:r>
            <a:endParaRPr lang="en-US" sz="3200" dirty="0"/>
          </a:p>
        </p:txBody>
      </p:sp>
      <p:pic>
        <p:nvPicPr>
          <p:cNvPr id="4" name="Image 0" descr="/sessions/youthful-relaxed-maxwell/mnt/OHT_MAPF/results/assets/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832" y="1737360"/>
            <a:ext cx="3548575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interface gives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92240" y="27432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addEdge(from, to)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a neighbor to a per-node dynamic_array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neighbor(u, i)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i-th out-neighbor of u — O(1) indexed access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 type, two uses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layout, and the TEG over (node, t)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  ·  AVL 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 table = AVL tree of intervals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occupancy as sorted, coalesced intervals.  Recorded by PP, read by BFS via isFree.</a:t>
            </a:r>
            <a:endParaRPr lang="en-US" sz="1500" dirty="0"/>
          </a:p>
        </p:txBody>
      </p:sp>
      <p:pic>
        <p:nvPicPr>
          <p:cNvPr id="5" name="Image 0" descr="/sessions/youthful-relaxed-maxwell/mnt/OHT_MAPF/results/assets/fig_reserv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458" y="2377440"/>
            <a:ext cx="6538045" cy="3840480"/>
          </a:xfrm>
          <a:prstGeom prst="rect">
            <a:avLst/>
          </a:prstGeom>
        </p:spPr>
      </p:pic>
      <p:pic>
        <p:nvPicPr>
          <p:cNvPr id="6" name="Image 1" descr="/sessions/youthful-relaxed-maxwell/mnt/OHT_MAPF/results/assets/fig_coales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960134"/>
            <a:ext cx="4572000" cy="13949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  ·  AVL ★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balanced tree — not array / hash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10881360" cy="22860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383280"/>
                <a:gridCol w="27432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/ range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array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shift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too 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no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do "next ≥ t"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unbalanced BST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avg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avg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worst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AVL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+ pred/succ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— chosen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Workload: insert occupancy + find first interval ≥ t, constantly.  AVL gives both fast insert AND sorted neighbor queries.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  ·  AVL ★ COALESCING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Coalescing — reserve() folds neighbors</a:t>
            </a:r>
            <a:endParaRPr lang="en-US" sz="3200" dirty="0"/>
          </a:p>
        </p:txBody>
      </p:sp>
      <p:pic>
        <p:nvPicPr>
          <p:cNvPr id="4" name="Image 0" descr="/sessions/youthful-relaxed-maxwell/mnt/OHT_MAPF/results/assets/reservation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2627" y="1691640"/>
            <a:ext cx="2926985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92240" y="26517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:: touches / merge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geometry — do two ranges touch, and their union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:: predecessor / successor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touching neighbors, then remove / insert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reserve() orchestrates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touching neighbors — the AVL never knows merge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  ·  MIN-HEAP 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priority heap = min-heap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pulls the next agent by priority — repeated extract-min, O(log n).  Why heap: array insert/extract is O(n).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fig_minhe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5027" y="2606040"/>
            <a:ext cx="6051466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STRUCTURES  ·  MIN-HEAP ★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Encapsulation by private inheritance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MinHeap privately inherits DynamicArray — hides get/set/pushBack, so the heap invariant can't be broken.</a:t>
            </a:r>
            <a:endParaRPr lang="en-US" sz="1500" dirty="0"/>
          </a:p>
        </p:txBody>
      </p:sp>
      <p:pic>
        <p:nvPicPr>
          <p:cNvPr id="5" name="Image 0" descr="/sessions/youthful-relaxed-maxwell/mnt/OHT_MAPF/results/assets/minhe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5943" y="2377440"/>
            <a:ext cx="374963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Collision-free at fab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21,178 nodes · 500 agents · H=1000 · 1,596 goals · throughput 0.798 · collision-free, leak-free</a:t>
            </a:r>
            <a:endParaRPr lang="en-US" sz="1600" dirty="0"/>
          </a:p>
        </p:txBody>
      </p:sp>
      <p:pic>
        <p:nvPicPr>
          <p:cNvPr id="5" name="Image 0" descr="/sessions/youthful-relaxed-maxwell/mnt/OHT_MAPF/results/assets/main_cpp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1140" y="2651760"/>
            <a:ext cx="577347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data structures is what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decides whether it works — and how far it scales.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rests on the reservation table's coalescing invariant; scale is bounded by data layout, not the search.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MAPF on a Real Fab OHT Network</dc:title>
  <dc:subject>PptxGenJS Presentation</dc:subject>
  <dc:creator>김도현</dc:creator>
  <cp:lastModifiedBy>김도현</cp:lastModifiedBy>
  <cp:revision>1</cp:revision>
  <dcterms:created xsi:type="dcterms:W3CDTF">2026-06-09T18:09:32Z</dcterms:created>
  <dcterms:modified xsi:type="dcterms:W3CDTF">2026-06-09T18:09:32Z</dcterms:modified>
</cp:coreProperties>
</file>