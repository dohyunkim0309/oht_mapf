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137"/>
    <p:restoredTop sz="94610"/>
  </p:normalViewPr>
  <p:slideViewPr>
    <p:cSldViewPr snapToGrid="0" snapToObjects="1">
      <p:cViewPr varScale="1">
        <p:scale>
          <a:sx n="121" d="100"/>
          <a:sy n="121" d="100"/>
        </p:scale>
        <p:origin x="176" y="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209356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Multi-Agent Path Finding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22960" y="2788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a Real Fab OHT Network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Structure Project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68680" y="4343400"/>
            <a:ext cx="2011680" cy="0"/>
          </a:xfrm>
          <a:prstGeom prst="line">
            <a:avLst/>
          </a:prstGeom>
          <a:noFill/>
          <a:ln w="19050">
            <a:solidFill>
              <a:srgbClr val="CBD2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4526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B8794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김도현  ·  202214223  ·  전기전자공학과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Hundreds of OHTs share one rail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collision stalls the line — and a stalled line stalls production.</a:t>
            </a:r>
            <a:endParaRPr lang="en-US" sz="1600" dirty="0"/>
          </a:p>
        </p:txBody>
      </p:sp>
      <p:pic>
        <p:nvPicPr>
          <p:cNvPr id="5" name="Image 0" descr="/sessions/youthful-relaxed-maxwell/mnt/OHT_MAPF/results/assets/FAB_O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0" y="3040380"/>
            <a:ext cx="8686800" cy="26060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PROBLEM SETUP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Discrete-time motion model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Directed graph  ·  one step = move V·Δt or wait  ·  min separation V·Δt</a:t>
            </a:r>
            <a:endParaRPr lang="en-US" sz="1600" dirty="0"/>
          </a:p>
        </p:txBody>
      </p:sp>
      <p:pic>
        <p:nvPicPr>
          <p:cNvPr id="5" name="Image 0" descr="/sessions/youthful-relaxed-maxwell/mnt/OHT_MAPF/results/assets/fig_mo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8468" y="2743200"/>
            <a:ext cx="7124584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PROBLEM SETUP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Edge → unit edges (virtual nodes)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each edge into unit steps  →  collision = same (node, time).</a:t>
            </a:r>
            <a:endParaRPr lang="en-US" sz="1600" dirty="0"/>
          </a:p>
        </p:txBody>
      </p:sp>
      <p:pic>
        <p:nvPicPr>
          <p:cNvPr id="5" name="Image 0" descr="/sessions/youthful-relaxed-maxwell/mnt/OHT_MAPF/results/assets/fig_virtualno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9969" y="2651760"/>
            <a:ext cx="8201582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PROBLEM SETUP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conflict: why time is part of the problem</a:t>
            </a:r>
            <a:endParaRPr lang="en-US" sz="3200" dirty="0"/>
          </a:p>
        </p:txBody>
      </p:sp>
      <p:pic>
        <p:nvPicPr>
          <p:cNvPr id="4" name="Image 0" descr="/sessions/youthful-relaxed-maxwell/mnt/OHT_MAPF/results/assets/fig_colli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4735" y="2011680"/>
            <a:ext cx="7472051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DATA ACQUISITION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Samsung semiconductor-fab network in Yongin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SMAT 2022 OHT network — Choi et al., PLOS ONE 2024  ·  2,858 nodes / 3,424 edges</a:t>
            </a:r>
            <a:endParaRPr lang="en-US" sz="1600" dirty="0"/>
          </a:p>
        </p:txBody>
      </p:sp>
      <p:pic>
        <p:nvPicPr>
          <p:cNvPr id="5" name="Image 0" descr="/sessions/youthful-relaxed-maxwell/mnt/OHT_MAPF/results/assets/pap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6528" y="2468880"/>
            <a:ext cx="3310624" cy="4023360"/>
          </a:xfrm>
          <a:prstGeom prst="rect">
            <a:avLst/>
          </a:prstGeom>
        </p:spPr>
      </p:pic>
      <p:pic>
        <p:nvPicPr>
          <p:cNvPr id="6" name="Image 1" descr="/sessions/youthful-relaxed-maxwell/mnt/OHT_MAPF/results/assets/githu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2842710"/>
            <a:ext cx="5394960" cy="33671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DATA ACQUISITION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24688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Directed </a:t>
            </a:r>
            <a:r>
              <a:rPr lang="en-US" sz="3400" b="1" dirty="0">
                <a:solidFill>
                  <a:srgbClr val="0E7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weighted</a:t>
            </a:r>
            <a:r>
              <a:rPr lang="en-US" sz="34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graph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3832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  quantize to integer steps</a:t>
            </a:r>
            <a:endParaRPr lang="en-US" sz="3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DATA ACQUISITION  ·  PREPROCESSING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Stage 1 — quantize (convert_weights)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→ integer steps: round(d / V), clamp ≥ 1.  Coding it is what lets us measure &amp; tune the error.</a:t>
            </a:r>
            <a:endParaRPr lang="en-US" sz="1500" dirty="0"/>
          </a:p>
        </p:txBody>
      </p:sp>
      <p:pic>
        <p:nvPicPr>
          <p:cNvPr id="5" name="Image 0" descr="/sessions/youthful-relaxed-maxwell/mnt/OHT_MAPF/results/assets/python_stage1_conv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6047" y="2468880"/>
            <a:ext cx="5189426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DATA ACQUISITION  ·  PREPROCESSING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Stage 2 — expand (expand_unweighted)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weight-w edge → a w−1 virtual-node chain of unit edges.</a:t>
            </a:r>
            <a:endParaRPr lang="en-US" sz="1500" dirty="0"/>
          </a:p>
        </p:txBody>
      </p:sp>
      <p:pic>
        <p:nvPicPr>
          <p:cNvPr id="5" name="Image 0" descr="/sessions/youthful-relaxed-maxwell/mnt/OHT_MAPF/results/assets/python_stage2_exp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5904" y="2377440"/>
            <a:ext cx="4409712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DATA ACQUISITION  ·  TUNING RESULT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Quantization: smaller graph vs. more error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240280"/>
          <a:ext cx="10698480" cy="283464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w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avg err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max err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 avg err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expanded nodes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10,312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 (chosen)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21,178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0749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error is the real metric</a:t>
            </a:r>
            <a:r>
              <a:rPr lang="en-US" sz="13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edges over/under-round, but a path sums many edges so errors cancel.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40080" y="53949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V → finer steps → a bigger graph, but more accurate.  Chosen V=500: max w = H = 28, path error 3.6%.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THE BIG PICTURE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Prioritized Planning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agents one at a time, in priority order.  Each committed path becomes occupancy the next agent must avoid.</a:t>
            </a:r>
            <a:endParaRPr lang="en-US" sz="1600" dirty="0"/>
          </a:p>
        </p:txBody>
      </p:sp>
      <p:pic>
        <p:nvPicPr>
          <p:cNvPr id="5" name="Image 0" descr="/sessions/youthful-relaxed-maxwell/mnt/OHT_MAPF/results/assets/fig_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9045" y="2697480"/>
            <a:ext cx="700343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THE BIG PICTURE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roles, receding horizon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runs time (plan H, commit C, replan)  ·  PP orders agents  ·  PathFinder routes one agent.</a:t>
            </a:r>
            <a:endParaRPr lang="en-US" sz="1600" dirty="0"/>
          </a:p>
        </p:txBody>
      </p:sp>
      <p:pic>
        <p:nvPicPr>
          <p:cNvPr id="5" name="Image 0" descr="/sessions/youthful-relaxed-maxwell/mnt/OHT_MAPF/results/assets/fig_ro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5946" y="2606040"/>
            <a:ext cx="7829628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THE BIG PICTURE  ·  THE PATHFINDER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Pathfinding: BFS over a Time-Expanded Graph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 the graph per step (TEG)  ·  avoid occupancy via isFree  ·  space = V × (H+1)</a:t>
            </a:r>
            <a:endParaRPr lang="en-US" sz="1600" dirty="0"/>
          </a:p>
        </p:txBody>
      </p:sp>
      <p:pic>
        <p:nvPicPr>
          <p:cNvPr id="5" name="Image 0" descr="/sessions/youthful-relaxed-maxwell/mnt/OHT_MAPF/results/assets/fig_te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9447" y="2331720"/>
            <a:ext cx="6102626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THE BIG PICTURE  ·  WHAT IT NEEDS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this picture needs — and why</a:t>
            </a:r>
            <a:endParaRPr lang="en-US" sz="3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463040" y="2468880"/>
          <a:ext cx="9235440" cy="283464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26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it's needed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BFS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expand the frontier level by level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TEG &amp; layout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represent the graph (copied per time step)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 every path's occupancy, queried constantly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 pull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PP takes the next agent by priority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303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each is needed — here.  The next section: what data structure realizes each, and why that one.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component → a data structure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463040" y="2468880"/>
          <a:ext cx="9235440" cy="283464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26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structure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BFS frontier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queue  (FIFO)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TEG &amp; layout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  (adjacency list, on dynamic_array)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dynamic_array (per node) + AVL tree (intervals)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 pull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min-heap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303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Emphasis three — graph · AVL · min-heap.  (queue · linked_list · dynamic_array: one breath in the next map.)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from class data structures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tiers: building blocks → structures.  Every compare delegates to Data::operator&lt;.</a:t>
            </a:r>
            <a:endParaRPr lang="en-US" sz="1600" dirty="0"/>
          </a:p>
        </p:txBody>
      </p:sp>
      <p:pic>
        <p:nvPicPr>
          <p:cNvPr id="5" name="Image 0" descr="/sessions/youthful-relaxed-maxwell/mnt/OHT_MAPF/results/assets/fig_dependen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096" y="2377440"/>
            <a:ext cx="5885328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  ·  THE DATA CONTRACT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structure holds Data*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~Data → polymorphic delete (owner deletes, child cleans up).  virtual operator&lt; → comparison delegated.</a:t>
            </a:r>
            <a:endParaRPr lang="en-US" sz="1500" dirty="0"/>
          </a:p>
        </p:txBody>
      </p:sp>
      <p:pic>
        <p:nvPicPr>
          <p:cNvPr id="5" name="Image 0" descr="/sessions/youthful-relaxed-maxwell/mnt/OHT_MAPF/results/assets/data_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5040" y="2377440"/>
            <a:ext cx="587144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  ·  OPERATOR&lt; OVERLOADING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children override operator&lt;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 (by start) makes a generic AVL an interval tree · Agent (by priority) makes a generic heap a priority queue.</a:t>
            </a:r>
            <a:endParaRPr lang="en-US" sz="1500" dirty="0"/>
          </a:p>
        </p:txBody>
      </p:sp>
      <p:pic>
        <p:nvPicPr>
          <p:cNvPr id="5" name="Image 0" descr="/sessions/youthful-relaxed-maxwell/mnt/OHT_MAPF/results/assets/interv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531587"/>
            <a:ext cx="5212080" cy="3715066"/>
          </a:xfrm>
          <a:prstGeom prst="rect">
            <a:avLst/>
          </a:prstGeom>
        </p:spPr>
      </p:pic>
      <p:pic>
        <p:nvPicPr>
          <p:cNvPr id="6" name="Image 1" descr="/sessions/youthful-relaxed-maxwell/mnt/OHT_MAPF/results/assets/agent_operator_overload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3557588"/>
            <a:ext cx="5120640" cy="102298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309360" y="2926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: public Data — operator&lt; by priority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  ·  GRAPH ★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Graph — adjacency list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&amp; TEG as adjacency lists — sparse, O(V+E), fast neighbor scan.</a:t>
            </a:r>
            <a:endParaRPr lang="en-US" sz="1600" dirty="0"/>
          </a:p>
        </p:txBody>
      </p:sp>
      <p:pic>
        <p:nvPicPr>
          <p:cNvPr id="5" name="Image 0" descr="/sessions/youthful-relaxed-maxwell/mnt/OHT_MAPF/results/assets/fig_adj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9045" y="2697480"/>
            <a:ext cx="700343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  ·  GRAPH ★ CODE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Graph — adjacency on dynamic_array</a:t>
            </a:r>
            <a:endParaRPr lang="en-US" sz="3200" dirty="0"/>
          </a:p>
        </p:txBody>
      </p:sp>
      <p:pic>
        <p:nvPicPr>
          <p:cNvPr id="4" name="Image 0" descr="/sessions/youthful-relaxed-maxwell/mnt/OHT_MAPF/results/assets/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1832" y="1737360"/>
            <a:ext cx="3548575" cy="47548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9224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interface gives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92240" y="274320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addEdge(from, to)</a:t>
            </a:r>
            <a:endParaRPr lang="en-US" sz="15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appends a neighbor to a per-node dynamic_array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neighbor(u, i)</a:t>
            </a:r>
            <a:endParaRPr lang="en-US" sz="15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i-th out-neighbor of u — O(1) indexed access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Graph type, two uses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layout, and the TEG over (node, t)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  ·  AVL ★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Reservation table = AVL tree of intervals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Per-node occupancy as sorted, merged intervals.  Recorded by PP, read by BFS via isFree.</a:t>
            </a:r>
            <a:endParaRPr lang="en-US" sz="1500" dirty="0"/>
          </a:p>
        </p:txBody>
      </p:sp>
      <p:pic>
        <p:nvPicPr>
          <p:cNvPr id="5" name="Image 0" descr="/sessions/youthful-relaxed-maxwell/mnt/OHT_MAPF/results/assets/fig_reserv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458" y="2377440"/>
            <a:ext cx="6538045" cy="3840480"/>
          </a:xfrm>
          <a:prstGeom prst="rect">
            <a:avLst/>
          </a:prstGeom>
        </p:spPr>
      </p:pic>
      <p:pic>
        <p:nvPicPr>
          <p:cNvPr id="6" name="Image 1" descr="/sessions/youthful-relaxed-maxwell/mnt/OHT_MAPF/results/assets/fig_coales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0" y="2960134"/>
            <a:ext cx="4572000" cy="139493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  ·  AVL ★ WHY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a balanced tree — not array / hash</a:t>
            </a:r>
            <a:endParaRPr lang="en-US" sz="3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51760"/>
          <a:ext cx="10881360" cy="265176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candidate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ordered / range query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sorted array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B2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 shift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 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B2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insert too slow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hash table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B2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no order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B2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can't do "next ≥ t"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unbalanced BST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 n) avg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 n) avg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B2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 worst case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AVL tree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 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 n) + pred/succ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balanced — chosen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4864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Workload: insert occupancy + find first interval ≥ t, constantly.  AVL gives both fast insert AND sorted neighbor queries.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  ·  AVL ★ MERGING (1/2)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Merging — the geometry lives in Interval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operator&lt; (by start) · touches (ranges meet?) · merge (their union). Interval owns the geometry; the AVL never knows it.</a:t>
            </a:r>
            <a:endParaRPr lang="en-US" sz="1400" dirty="0"/>
          </a:p>
        </p:txBody>
      </p:sp>
      <p:pic>
        <p:nvPicPr>
          <p:cNvPr id="5" name="Image 0" descr="/sessions/youthful-relaxed-maxwell/mnt/OHT_MAPF/results/assets/interval_c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4549" y="2423160"/>
            <a:ext cx="4372422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  ·  AVL ★ MERGING (2/2)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Merging — reserve() absorbs neighbors</a:t>
            </a:r>
            <a:endParaRPr lang="en-US" sz="3200" dirty="0"/>
          </a:p>
        </p:txBody>
      </p:sp>
      <p:pic>
        <p:nvPicPr>
          <p:cNvPr id="4" name="Image 0" descr="/sessions/youthful-relaxed-maxwell/mnt/OHT_MAPF/results/assets/reservationTable_merge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156" y="2194560"/>
            <a:ext cx="5720007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766560" y="22860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reserve() folds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766560" y="2743200"/>
            <a:ext cx="47548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predecessor / successor</a:t>
            </a:r>
            <a:endParaRPr lang="en-US" sz="15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touching neighbor in the AVL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touches? → merge</a:t>
            </a:r>
            <a:endParaRPr lang="en-US" sz="15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absorb it, then remove the old node (we own it)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both sides → insert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disjoint interval where several touched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  ·  AVL ★ MEMORY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leaks: dynamic_array → AVL → Node → Data*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 is explicit; destruction walks the whole chain.  (ASan/UBSan: leak-free.)</a:t>
            </a:r>
            <a:endParaRPr lang="en-US" sz="1400" dirty="0"/>
          </a:p>
        </p:txBody>
      </p:sp>
      <p:pic>
        <p:nvPicPr>
          <p:cNvPr id="5" name="Image 0" descr="/sessions/youthful-relaxed-maxwell/mnt/OHT_MAPF/results/assets/reservationTable_memory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290265"/>
            <a:ext cx="5394960" cy="255179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48920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table dtor → per-node clearAndDelete → delete[] trees</a:t>
            </a:r>
            <a:endParaRPr lang="en-US" sz="1200" dirty="0"/>
          </a:p>
        </p:txBody>
      </p:sp>
      <p:pic>
        <p:nvPicPr>
          <p:cNvPr id="7" name="Image 1" descr="/sessions/youthful-relaxed-maxwell/mnt/OHT_MAPF/results/assets/reservationTable_memory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5078" y="2286000"/>
            <a:ext cx="5160645" cy="13716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309360" y="37033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clearAndDelete → destroyAndDelete(root)</a:t>
            </a:r>
            <a:endParaRPr lang="en-US" sz="1200" dirty="0"/>
          </a:p>
        </p:txBody>
      </p:sp>
      <p:pic>
        <p:nvPicPr>
          <p:cNvPr id="9" name="Image 2" descr="/sessions/youthful-relaxed-maxwell/mnt/OHT_MAPF/results/assets/reservationTable_memory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7295" y="4114800"/>
            <a:ext cx="3176210" cy="23774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309360" y="64465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post-order: delete each Data* (owned payload), then the node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  ·  MIN-HEAP ★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 priority heap = min-heap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 pulls the next agent by priority — repeated extract-min, O(log n).  Why heap: array insert/extract is O(n).</a:t>
            </a:r>
            <a:endParaRPr lang="en-US" sz="1600" dirty="0"/>
          </a:p>
        </p:txBody>
      </p:sp>
      <p:pic>
        <p:nvPicPr>
          <p:cNvPr id="5" name="Image 0" descr="/sessions/youthful-relaxed-maxwell/mnt/OHT_MAPF/results/assets/fig_minhe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3299" y="2272337"/>
            <a:ext cx="7505401" cy="4082743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  ·  MIN-HEAP ★ CODE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Encapsulation by private inheritance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MinHeap privately inherits DynamicArray — hides get/set/pushBack, so the heap invariant can't be broken.</a:t>
            </a:r>
            <a:endParaRPr lang="en-US" sz="1500" dirty="0"/>
          </a:p>
        </p:txBody>
      </p:sp>
      <p:pic>
        <p:nvPicPr>
          <p:cNvPr id="5" name="Image 0" descr="/sessions/youthful-relaxed-maxwell/mnt/OHT_MAPF/results/assets/minhe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9937" y="2188254"/>
            <a:ext cx="3992126" cy="438090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Collision-free at fab scale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21,178 nodes · 500 agents · H=1000 · 1,596 goals · throughput 0.798 · collision-free, leak-free</a:t>
            </a:r>
            <a:endParaRPr lang="en-US" sz="1600" dirty="0"/>
          </a:p>
        </p:txBody>
      </p:sp>
      <p:pic>
        <p:nvPicPr>
          <p:cNvPr id="5" name="Image 0" descr="/sessions/youthful-relaxed-maxwell/mnt/OHT_MAPF/results/assets/main_cpp_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1140" y="2651760"/>
            <a:ext cx="5773479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F29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822960" y="42976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1249</Words>
  <Application>Microsoft Macintosh PowerPoint</Application>
  <PresentationFormat>와이드스크린</PresentationFormat>
  <Paragraphs>201</Paragraphs>
  <Slides>29</Slides>
  <Notes>29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34" baseType="lpstr">
      <vt:lpstr>NanumGothic</vt:lpstr>
      <vt:lpstr>Arial</vt:lpstr>
      <vt:lpstr>Calibri</vt:lpstr>
      <vt:lpstr>Georgia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MAPF on a Real Fab OHT Network</dc:title>
  <dc:subject>PptxGenJS Presentation</dc:subject>
  <dc:creator>김도현</dc:creator>
  <cp:lastModifiedBy>김도현</cp:lastModifiedBy>
  <cp:revision>4</cp:revision>
  <dcterms:created xsi:type="dcterms:W3CDTF">2026-06-10T05:01:58Z</dcterms:created>
  <dcterms:modified xsi:type="dcterms:W3CDTF">2026-06-10T05:39:09Z</dcterms:modified>
</cp:coreProperties>
</file>